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84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457200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NFX – Nike Foreign Exchange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Hurtownia danych do wykrywania arbitrażu cenowego Nike × kursy NBP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Cezary Polkowski · Karol Socha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Hurtownie Danych i Business Intelligence · Czerwiec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6268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rynków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175 899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97480" y="46268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 w PLN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9 227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46268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okazji &gt;20%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14/14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46520" y="46268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testów PASS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biznesowy i odbiorca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90195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73152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 danych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61518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73152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6151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rozwiązania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328416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73152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3284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jakości danych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4041648"/>
            <a:ext cx="457200" cy="457200"/>
          </a:xfrm>
          <a:prstGeom prst="ellipse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73152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041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fizyczny hurtowni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4846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ETL (SSIS)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46320" y="190195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484632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BI: miary i widoki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261518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484632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0" y="26151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Raporty (3 strony)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484632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33284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funkcjonalne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846320" y="4041648"/>
            <a:ext cx="457200" cy="457200"/>
          </a:xfrm>
          <a:prstGeom prst="ellipse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484632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0" y="4041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 i wnioski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 biznesowy i odbiorca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Kontekst:  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resellingowa / europejski dystrybutor streetwear.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 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wykrywanie okazji arbitrażu cenowego — produkty istotnie tańsze (po przeliczeniu na PLN) na jednym rynku niż na innym.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Korzyści dla odbiorcy:</a:t>
            </a:r>
            <a:endParaRPr lang="en-US" sz="15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Wskazanie rynków najtańszego importu</a:t>
            </a:r>
            <a:endParaRPr lang="en-US" sz="15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Maksymalizacja marży na odsprzedaży</a:t>
            </a:r>
            <a:endParaRPr lang="en-US" sz="15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ostrzegający o „okazjach” ze spadku walut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1143000"/>
            <a:ext cx="2743200" cy="1554480"/>
          </a:xfrm>
          <a:prstGeom prst="roundRect">
            <a:avLst>
              <a:gd name="adj" fmla="val 3529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17220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11 771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172200" y="1856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produktów na ≥2 rynkach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2880360"/>
            <a:ext cx="2743200" cy="1554480"/>
          </a:xfrm>
          <a:prstGeom prst="roundRect">
            <a:avLst>
              <a:gd name="adj" fmla="val 3529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17220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A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894,5%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72200" y="3593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maksymalna marża arbitrażu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Źródła danych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Nike Global Catalogue 2026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(publiczny, konto wymagane)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CSV, UTF-8, ~881 MB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1 447 795 wierszy · 35 kolumn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Ziarno: produkt × kraj × rozmiar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Odświeżanie: kwartalnie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NBP Web API (kursy walut)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publiczny, bez klucza · tylko HTTPS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JSON · tabele A / B / 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93 dni → segmentacja ≤90 dni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Pobrano: 112 dni · 7 708 kursów · 148 walut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Odświeżanie: codziennie (dni robocze)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Architektura rozwiązania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pic>
        <p:nvPicPr>
          <p:cNvPr id="6" name="Image 0" descr="C:\Users\czare\Desktop\studia\sem6\Hurtownie\NFX_Implementation\08_docs\NFX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813" y="960120"/>
            <a:ext cx="6260374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 → ETL/ELT → Hurtownia (gwiazda) → Warstwa BI (widoki/DAX) → Raporty.  Pobranie NBP: Script Task C# (REST/JSON nie jest natywnym źródłem SSIS).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 jakości danych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1 447 795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wierszy surowych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52044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175 917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1719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ziarno produkt × kraj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30936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/ 29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1719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krajów / walut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2953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 ≤ 0 → error_log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37560" y="23317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520440" y="2953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sentinele 100 000 NZD (outliery)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233172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63093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0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PLN, BGN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2953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poza tabelami NBP A/B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79476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Kluczowy wniosek: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realny schemat CSV różni się od KM1 → klucz naturalny produktu to </a:t>
            </a: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style_color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(model+kolor), nie UUID; podkategoria zlokalizowana (CJK) → NVARCHAR.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fizyczny hurtowni (gwiazda)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pic>
        <p:nvPicPr>
          <p:cNvPr id="6" name="Image 0" descr="C:\Users\czare\Desktop\studia\sem6\Hurtownie\NFX_Implementation\08_docs\NFX_physical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394960" cy="359664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97280"/>
          <a:ext cx="2834640" cy="292608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Wiersze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9 496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DIM_Currency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DIM_Geography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48 458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DIM_Product (SCD2)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29 249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FACT_Prices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175 899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FACT_ExchangeRates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7 708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4434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Wymiary współdzielone: DIM_Date i </a:t>
            </a:r>
            <a:r>
              <a:rPr lang="en-US" sz="11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DIM_Currency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 ETL (SSIS)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Pakiet #1 — katalog Nike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 → staging + Error Redirect (ceny ≤0 → error_log)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 2 na DIM_Product · przeliczenie na PLN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Pakiet #2 — kursy NBP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Task C# (HttpClient, JSON, ≤90 dni)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Deduplikacja WHERE NOT EXISTS · SCD1 kursu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price_pln = cena_lokalna × kurs_mid  ·  weryfikacja: USD 110 × 3,727 = 409,97 zł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566928"/>
            <a:ext cx="4772494" cy="4517288"/>
          </a:xfrm>
          <a:prstGeom prst="rect">
            <a:avLst/>
          </a:prstGeom>
          <a:solidFill>
            <a:srgbClr val="F8FAFC"/>
          </a:solidFill>
          <a:ln w="15875">
            <a:solidFill>
              <a:srgbClr val="E8A000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572000" y="25831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Zrzut ekranu: SSIS — Control Flow / Data Flow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(Visual Studio, pakiety .dtsx)</a:t>
            </a:r>
            <a:endParaRPr lang="en-US" sz="1200" dirty="0"/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9AB0946C-575D-D514-1A84-0542D45F3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29" y="640075"/>
            <a:ext cx="2532214" cy="2491745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31920FF4-AE02-6117-211E-78A4696FD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640075"/>
            <a:ext cx="2083398" cy="2491745"/>
          </a:xfrm>
          <a:prstGeom prst="rect">
            <a:avLst/>
          </a:prstGeom>
        </p:spPr>
      </p:pic>
      <p:pic>
        <p:nvPicPr>
          <p:cNvPr id="22" name="Obraz 21">
            <a:extLst>
              <a:ext uri="{FF2B5EF4-FFF2-40B4-BE49-F238E27FC236}">
                <a16:creationId xmlns:a16="http://schemas.microsoft.com/office/drawing/2014/main" id="{F6B20C64-D575-BC9D-B571-04A0A848B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217" y="3231662"/>
            <a:ext cx="4173583" cy="17527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Scenariusze ładowania i orkiestracja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931920" cy="3200400"/>
          </a:xfrm>
          <a:prstGeom prst="roundRect">
            <a:avLst>
              <a:gd name="adj" fmla="val 1714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315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Scenariusze (przetestowane)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Inicjalizacja (full): </a:t>
            </a:r>
            <a:endParaRPr lang="pl-PL" sz="1300" b="1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puste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tabele → 183 607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wierszy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faktów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(16 s).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Kolejna iteracja (incremental): </a:t>
            </a:r>
            <a:endParaRPr lang="pl-PL" sz="1300" b="1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deduplikacja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0 nowych wierszy.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Idempotentne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(test T-INC-01).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931920" cy="3200400"/>
          </a:xfrm>
          <a:prstGeom prst="roundRect">
            <a:avLst>
              <a:gd name="adj" fmla="val 1714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8463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Orkiestracja — SQL Server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NikeETL_FX_Daily — codziennie 07:00 (kursy)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NikeETL_Catalogue_Quarterly — kwartalnie (katalog, SCD2)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Audyt: staging.etl_run_log (3 udane przebiegi)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przy błędzie / odchyleniu &gt;20% (Database Mail)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Warstwa BI: miary, widoki, hierarchie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743200" cy="3566160"/>
          </a:xfrm>
          <a:prstGeom prst="roundRect">
            <a:avLst>
              <a:gd name="adj" fmla="val 2000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Miary (DAX)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PLN (snapshot)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PLN (dynamiczna)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cena rynek PLN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PLN · Marża 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Aktywne okazje (&gt;20%)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kurs · Zmiana 30D 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Zmienność (stdev)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051560"/>
            <a:ext cx="2743200" cy="3566160"/>
          </a:xfrm>
          <a:prstGeom prst="roundRect">
            <a:avLst>
              <a:gd name="adj" fmla="val 2000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56616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Widoki bi.* (7)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50876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v_global_price_map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v_product_arbitrage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v_fx_trend_30d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v_fx_enriched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v_fx_monthly_volatility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v_kpi_summary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v_price_enriched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051560"/>
            <a:ext cx="237744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49224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Hierarchie · SCD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1508760"/>
            <a:ext cx="2103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→ Subcategory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→ Sub-Region → Country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→ Quarter → Month → Day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SCD2: DIM_Product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SCD1: DIM_Currency (kurs)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Raport 1 — Global Price Map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pic>
        <p:nvPicPr>
          <p:cNvPr id="6" name="Image 0" descr="C:\Users\czare\Desktop\studia\sem6\Hurtownie\NFX_Implementation\07_reports\report_1_global_pric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440680" cy="3849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960120"/>
            <a:ext cx="5440680" cy="3849624"/>
          </a:xfrm>
          <a:prstGeom prst="rect">
            <a:avLst/>
          </a:prstGeom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5"/>
          <p:cNvSpPr/>
          <p:nvPr/>
        </p:nvSpPr>
        <p:spPr>
          <a:xfrm>
            <a:off x="5989320" y="960120"/>
            <a:ext cx="2788920" cy="3108960"/>
          </a:xfrm>
          <a:prstGeom prst="roundRect">
            <a:avLst>
              <a:gd name="adj" fmla="val 1967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617220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 pokazuje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14173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modelu w PLN na 39 rynkach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Najtaniej: Japonia 464 zł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Najdrożej: Szwajcaria 1033 zł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569 zł · marża 123%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Kolor: czerwony=drogo, zielony=tanio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Raport 2 — Arbitrage Opportunities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pic>
        <p:nvPicPr>
          <p:cNvPr id="6" name="Image 0" descr="C:\Users\czare\Desktop\studia\sem6\Hurtownie\NFX_Implementation\07_reports\report_2_arbit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440680" cy="3849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960120"/>
            <a:ext cx="5440680" cy="3849624"/>
          </a:xfrm>
          <a:prstGeom prst="rect">
            <a:avLst/>
          </a:prstGeom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5"/>
          <p:cNvSpPr/>
          <p:nvPr/>
        </p:nvSpPr>
        <p:spPr>
          <a:xfrm>
            <a:off x="5989320" y="960120"/>
            <a:ext cx="2788920" cy="3108960"/>
          </a:xfrm>
          <a:prstGeom prst="roundRect">
            <a:avLst>
              <a:gd name="adj" fmla="val 1967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617220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 pokazuje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14173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produktów wg marży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max spread 1 598 zł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9 227 aktywnych okazji (&gt;20%)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Formatowanie: zielony/żółty/czerwony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kursów NBP (zmiana 30D)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Raport 3 — FX Dashboard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pic>
        <p:nvPicPr>
          <p:cNvPr id="6" name="Image 0" descr="C:\Users\czare\Desktop\studia\sem6\Hurtownie\NFX_Implementation\07_reports\report_3_fx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440680" cy="3849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960120"/>
            <a:ext cx="5440680" cy="3849624"/>
          </a:xfrm>
          <a:prstGeom prst="rect">
            <a:avLst/>
          </a:prstGeom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5"/>
          <p:cNvSpPr/>
          <p:nvPr/>
        </p:nvSpPr>
        <p:spPr>
          <a:xfrm>
            <a:off x="5989320" y="960120"/>
            <a:ext cx="2788920" cy="3108960"/>
          </a:xfrm>
          <a:prstGeom prst="roundRect">
            <a:avLst>
              <a:gd name="adj" fmla="val 1967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617220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 pokazuje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14173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kursów USD/EUR/GBP/CHF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Najsilniejszy 30D: ZAR +2,3%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Najsłabszy 30D: BRL −3,1%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Tabela: kurs teraz vs 30 dni temu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Heatmapa zmienności miesięcznej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Testy funkcjonalne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4023360" cy="3566160"/>
          </a:xfrm>
          <a:prstGeom prst="roundRect">
            <a:avLst>
              <a:gd name="adj" fmla="val 1538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7C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14 </a:t>
            </a:r>
            <a:r>
              <a:rPr lang="en-US" sz="2000" b="1" dirty="0">
                <a:solidFill>
                  <a:srgbClr val="107C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liczba wierszy, walidacja, NBP, limit 93 dni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Hurtownia: SCD2, przeliczenie PLN, dedup FX, integralność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BI: marża = (max−min)/min, brak outlierów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Spójność: plik → staging → fakt → widok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+ scenariusze init / incremental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3931920" cy="2096589"/>
          </a:xfrm>
          <a:prstGeom prst="rect">
            <a:avLst/>
          </a:prstGeom>
          <a:solidFill>
            <a:srgbClr val="F8FAFC"/>
          </a:solidFill>
          <a:ln w="15875">
            <a:solidFill>
              <a:srgbClr val="E8A000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937760" y="2606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Zrzut ekranu: wynik run_tests.py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(konsola: 14/14 PASS)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 test_results.md</a:t>
            </a:r>
            <a:endParaRPr lang="en-US" sz="1200" dirty="0"/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F3E4829A-0F30-14C3-26B9-45A765900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76" y="2001883"/>
            <a:ext cx="3684927" cy="18092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694944" y="274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Wyniki i wnioski biznesowe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NFX – Nike Foreign Exchange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9 227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okazji o marży &gt;20%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520440" y="1280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894,5%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2044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marża arbitrażu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309360" y="1280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1 598 zł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spread cenowy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Wniosek: 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rynki o słabszych walutach (Turcja, Filipiny, Indonezja) są systematycznie najtańsze w PLN; rynki „drogie” (Szwajcaria, Meksyk, RPA, kraje nordyckie) — najdroższe. Rozwiązanie dostarcza gotowy, odświeżalny ranking decyzji zakupowych.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Ograniczenia: </a:t>
            </a: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ceny katalogowe to jeden snapshot (2026-03-19); analiza „w czasie” wymaga kolejnych snapshotów. Skrajne marże drobnych akcesoriów odcięte progiem.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05840"/>
            <a:ext cx="457200" cy="146304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Dziękujemy — pytania?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Podział pracy w zespole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Polkowski:</a:t>
            </a: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hurtowni, ETL/SSIS, orkiestracja.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Socha:</a:t>
            </a: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pozyskanie danych i jakość, warstwa BI, raporty.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Wspólnie:</a:t>
            </a: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testy funkcjonalne, dokumentacja.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Przygotowane odpowiedzi: </a:t>
            </a:r>
            <a:r>
              <a:rPr lang="en-US" sz="1250" i="1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(style_color) · deduplikacja FX (NOT EXISTS) · limit 93 dni (segmentacja) · liczenie marży (max−min)/min.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1213</Words>
  <Application>Microsoft Office PowerPoint</Application>
  <PresentationFormat>Pokaz na ekranie (16:9)</PresentationFormat>
  <Paragraphs>229</Paragraphs>
  <Slides>16</Slides>
  <Notes>16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NFX – Nike Foreign Exchange</dc:title>
  <dc:subject>PptxGenJS Presentation</dc:subject>
  <dc:creator>Cezary Polkowski, Karol Socha</dc:creator>
  <cp:lastModifiedBy>7505452 Polkowski Cezary</cp:lastModifiedBy>
  <cp:revision>2</cp:revision>
  <dcterms:created xsi:type="dcterms:W3CDTF">2026-06-15T00:12:17Z</dcterms:created>
  <dcterms:modified xsi:type="dcterms:W3CDTF">2026-06-15T00:57:05Z</dcterms:modified>
</cp:coreProperties>
</file>